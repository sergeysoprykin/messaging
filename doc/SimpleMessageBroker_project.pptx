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d34e65ce6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d34e65ce6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d34e65ce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d34e65ce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d34e65ce6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9d34e65ce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d34e65ce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9d34e65ce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d34e65ce6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d34e65ce6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d34e65ce6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9d34e65ce6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d34e65ce6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9d34e65ce6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d34e65ce6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9d34e65ce6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ddd613f5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9ddd613f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d34e65ce6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9d34e65ce6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9747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Message Broker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7082100" y="4472700"/>
            <a:ext cx="1750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Сергей Сопрыкин</a:t>
            </a:r>
            <a:endParaRPr>
              <a:solidFill>
                <a:schemeClr val="dk2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2025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38076"/>
              <a:buFont typeface="Arial"/>
              <a:buNone/>
            </a:pPr>
            <a:r>
              <a:rPr lang="en" sz="2600"/>
              <a:t>Базовая функциональность</a:t>
            </a:r>
            <a:endParaRPr sz="260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017725"/>
            <a:ext cx="8520600" cy="36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b="1" lang="en" sz="13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С</a:t>
            </a:r>
            <a:r>
              <a:rPr b="1" lang="en" sz="13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оединение с сервером</a:t>
            </a:r>
            <a:r>
              <a:rPr lang="en" sz="13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" sz="13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Клиент может устанавливать соединение с сервером для обмена сообщениями</a:t>
            </a:r>
            <a:endParaRPr sz="13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b="1" lang="en" sz="13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Отправка сообщений</a:t>
            </a:r>
            <a:r>
              <a:rPr lang="en" sz="13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Клиент может отправить сообщение другому клиенту по его имени</a:t>
            </a:r>
            <a:endParaRPr sz="13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b="1" lang="en" sz="13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Получение</a:t>
            </a:r>
            <a:r>
              <a:rPr b="1" lang="en" sz="13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сообщений</a:t>
            </a:r>
            <a:r>
              <a:rPr lang="en" sz="13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Клиент должен получать адресованные ему сообщения</a:t>
            </a:r>
            <a:endParaRPr sz="13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b="1" lang="en" sz="13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Гарантированная доставка сообщений</a:t>
            </a:r>
            <a:r>
              <a:rPr lang="en" sz="13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Сервер должен временно хранить сообщения для “отсутствующих” клиентов и отправлять их при соединении с клиентом</a:t>
            </a:r>
            <a:endParaRPr sz="13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Roboto"/>
              <a:buChar char="●"/>
            </a:pPr>
            <a:r>
              <a:rPr b="1" lang="en" sz="13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Хранение всей истории сообщений: </a:t>
            </a:r>
            <a:r>
              <a:rPr lang="en" sz="13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Сервер должен долговременно хранить все доставленные сообщения </a:t>
            </a:r>
            <a:endParaRPr b="1" sz="13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43825" y="450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00"/>
              <a:t>Высокоуровневая</a:t>
            </a:r>
            <a:r>
              <a:rPr b="1" lang="en" sz="26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6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архитектура</a:t>
            </a:r>
            <a:endParaRPr sz="26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67" name="Google Shape;67;p15"/>
          <p:cNvSpPr/>
          <p:nvPr/>
        </p:nvSpPr>
        <p:spPr>
          <a:xfrm>
            <a:off x="1157872" y="3632375"/>
            <a:ext cx="952800" cy="55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</a:t>
            </a: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2412847" y="3632375"/>
            <a:ext cx="952800" cy="55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</a:t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3817647" y="3632375"/>
            <a:ext cx="952800" cy="55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</a:t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5222447" y="3632375"/>
            <a:ext cx="952800" cy="55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</a:t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6627247" y="3632375"/>
            <a:ext cx="952800" cy="55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</a:t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3145850" y="1309475"/>
            <a:ext cx="2553000" cy="73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(Message router)</a:t>
            </a:r>
            <a:endParaRPr/>
          </a:p>
        </p:txBody>
      </p:sp>
      <p:cxnSp>
        <p:nvCxnSpPr>
          <p:cNvPr id="73" name="Google Shape;73;p15"/>
          <p:cNvCxnSpPr>
            <a:stCxn id="67" idx="0"/>
          </p:cNvCxnSpPr>
          <p:nvPr/>
        </p:nvCxnSpPr>
        <p:spPr>
          <a:xfrm flipH="1" rot="10800000">
            <a:off x="1634272" y="2053475"/>
            <a:ext cx="2189100" cy="157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4" name="Google Shape;74;p15"/>
          <p:cNvCxnSpPr>
            <a:stCxn id="68" idx="0"/>
          </p:cNvCxnSpPr>
          <p:nvPr/>
        </p:nvCxnSpPr>
        <p:spPr>
          <a:xfrm flipH="1" rot="10800000">
            <a:off x="2889247" y="2042675"/>
            <a:ext cx="1169400" cy="15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5" name="Google Shape;75;p15"/>
          <p:cNvCxnSpPr>
            <a:stCxn id="69" idx="0"/>
          </p:cNvCxnSpPr>
          <p:nvPr/>
        </p:nvCxnSpPr>
        <p:spPr>
          <a:xfrm rot="10800000">
            <a:off x="4262247" y="2048075"/>
            <a:ext cx="31800" cy="158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6" name="Google Shape;76;p15"/>
          <p:cNvCxnSpPr>
            <a:stCxn id="70" idx="0"/>
          </p:cNvCxnSpPr>
          <p:nvPr/>
        </p:nvCxnSpPr>
        <p:spPr>
          <a:xfrm rot="10800000">
            <a:off x="4893647" y="2053475"/>
            <a:ext cx="805200" cy="157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7" name="Google Shape;77;p15"/>
          <p:cNvCxnSpPr>
            <a:stCxn id="71" idx="0"/>
          </p:cNvCxnSpPr>
          <p:nvPr/>
        </p:nvCxnSpPr>
        <p:spPr>
          <a:xfrm rot="10800000">
            <a:off x="5231047" y="2058875"/>
            <a:ext cx="1872600" cy="157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43825" y="450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00"/>
              <a:t>Высокоуровневая</a:t>
            </a:r>
            <a:r>
              <a:rPr b="1" lang="en" sz="26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6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архитектура</a:t>
            </a:r>
            <a:endParaRPr sz="26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83" name="Google Shape;83;p16"/>
          <p:cNvSpPr/>
          <p:nvPr/>
        </p:nvSpPr>
        <p:spPr>
          <a:xfrm>
            <a:off x="1157872" y="3632375"/>
            <a:ext cx="952800" cy="55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</a:t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2412847" y="3632375"/>
            <a:ext cx="952800" cy="55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</a:t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3817647" y="3632375"/>
            <a:ext cx="952800" cy="55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</a:t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5222447" y="3632375"/>
            <a:ext cx="952800" cy="55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</a:t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6627247" y="3632375"/>
            <a:ext cx="952800" cy="55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</a:t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3145850" y="1309475"/>
            <a:ext cx="2553000" cy="73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(Message router)</a:t>
            </a:r>
            <a:endParaRPr/>
          </a:p>
        </p:txBody>
      </p:sp>
      <p:cxnSp>
        <p:nvCxnSpPr>
          <p:cNvPr id="89" name="Google Shape;89;p16"/>
          <p:cNvCxnSpPr>
            <a:stCxn id="83" idx="0"/>
          </p:cNvCxnSpPr>
          <p:nvPr/>
        </p:nvCxnSpPr>
        <p:spPr>
          <a:xfrm flipH="1" rot="10800000">
            <a:off x="1634272" y="2053475"/>
            <a:ext cx="2189100" cy="157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0" name="Google Shape;90;p16"/>
          <p:cNvCxnSpPr>
            <a:stCxn id="84" idx="0"/>
          </p:cNvCxnSpPr>
          <p:nvPr/>
        </p:nvCxnSpPr>
        <p:spPr>
          <a:xfrm flipH="1" rot="10800000">
            <a:off x="2889247" y="2042675"/>
            <a:ext cx="1169400" cy="15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1" name="Google Shape;91;p16"/>
          <p:cNvCxnSpPr>
            <a:stCxn id="85" idx="0"/>
          </p:cNvCxnSpPr>
          <p:nvPr/>
        </p:nvCxnSpPr>
        <p:spPr>
          <a:xfrm rot="10800000">
            <a:off x="4262247" y="2048075"/>
            <a:ext cx="31800" cy="158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2" name="Google Shape;92;p16"/>
          <p:cNvCxnSpPr>
            <a:stCxn id="86" idx="0"/>
          </p:cNvCxnSpPr>
          <p:nvPr/>
        </p:nvCxnSpPr>
        <p:spPr>
          <a:xfrm rot="10800000">
            <a:off x="4893647" y="2053475"/>
            <a:ext cx="805200" cy="157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3" name="Google Shape;93;p16"/>
          <p:cNvCxnSpPr>
            <a:stCxn id="87" idx="0"/>
          </p:cNvCxnSpPr>
          <p:nvPr/>
        </p:nvCxnSpPr>
        <p:spPr>
          <a:xfrm rot="10800000">
            <a:off x="5231047" y="2058875"/>
            <a:ext cx="1872600" cy="157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94" name="Google Shape;94;p16"/>
          <p:cNvSpPr/>
          <p:nvPr/>
        </p:nvSpPr>
        <p:spPr>
          <a:xfrm>
            <a:off x="1859025" y="2614025"/>
            <a:ext cx="722700" cy="2997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</a:rPr>
              <a:t>Message</a:t>
            </a:r>
            <a:endParaRPr sz="1000">
              <a:solidFill>
                <a:srgbClr val="0000FF"/>
              </a:solidFill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1939300" y="1964948"/>
            <a:ext cx="3586000" cy="1597850"/>
          </a:xfrm>
          <a:custGeom>
            <a:rect b="b" l="l" r="r" t="t"/>
            <a:pathLst>
              <a:path extrusionOk="0" h="63914" w="143440">
                <a:moveTo>
                  <a:pt x="0" y="63914"/>
                </a:moveTo>
                <a:cubicBezTo>
                  <a:pt x="11989" y="54815"/>
                  <a:pt x="54771" y="19954"/>
                  <a:pt x="71934" y="9321"/>
                </a:cubicBezTo>
                <a:cubicBezTo>
                  <a:pt x="89097" y="-1312"/>
                  <a:pt x="95163" y="45"/>
                  <a:pt x="102977" y="116"/>
                </a:cubicBezTo>
                <a:cubicBezTo>
                  <a:pt x="110791" y="188"/>
                  <a:pt x="114573" y="4184"/>
                  <a:pt x="118819" y="9750"/>
                </a:cubicBezTo>
                <a:cubicBezTo>
                  <a:pt x="123065" y="15316"/>
                  <a:pt x="124350" y="24736"/>
                  <a:pt x="128453" y="33514"/>
                </a:cubicBezTo>
                <a:cubicBezTo>
                  <a:pt x="132557" y="42292"/>
                  <a:pt x="140942" y="57599"/>
                  <a:pt x="143440" y="62416"/>
                </a:cubicBezTo>
              </a:path>
            </a:pathLst>
          </a:cu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38076"/>
              <a:buFont typeface="Arial"/>
              <a:buNone/>
            </a:pPr>
            <a:r>
              <a:rPr lang="en" sz="2600"/>
              <a:t>Ключевые компоненты</a:t>
            </a:r>
            <a:endParaRPr sz="26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38076"/>
              <a:buFont typeface="Arial"/>
              <a:buNone/>
            </a:pPr>
            <a:r>
              <a:t/>
            </a:r>
            <a:endParaRPr sz="2600"/>
          </a:p>
        </p:txBody>
      </p:sp>
      <p:sp>
        <p:nvSpPr>
          <p:cNvPr id="101" name="Google Shape;101;p17"/>
          <p:cNvSpPr/>
          <p:nvPr/>
        </p:nvSpPr>
        <p:spPr>
          <a:xfrm>
            <a:off x="311700" y="1325525"/>
            <a:ext cx="2778300" cy="2767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</a:t>
            </a:r>
            <a:endParaRPr/>
          </a:p>
        </p:txBody>
      </p:sp>
      <p:sp>
        <p:nvSpPr>
          <p:cNvPr id="102" name="Google Shape;102;p17"/>
          <p:cNvSpPr txBox="1"/>
          <p:nvPr/>
        </p:nvSpPr>
        <p:spPr>
          <a:xfrm>
            <a:off x="376450" y="2496175"/>
            <a:ext cx="1399200" cy="4617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Input queue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03" name="Google Shape;103;p17"/>
          <p:cNvCxnSpPr/>
          <p:nvPr/>
        </p:nvCxnSpPr>
        <p:spPr>
          <a:xfrm flipH="1" rot="10800000">
            <a:off x="314550" y="1678950"/>
            <a:ext cx="27807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" name="Google Shape;104;p17"/>
          <p:cNvSpPr txBox="1"/>
          <p:nvPr/>
        </p:nvSpPr>
        <p:spPr>
          <a:xfrm>
            <a:off x="1901900" y="1841313"/>
            <a:ext cx="1113300" cy="569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Connection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(to client)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397950" y="3460325"/>
            <a:ext cx="1065000" cy="4617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Storage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1901900" y="2496163"/>
            <a:ext cx="1113300" cy="569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Connection</a:t>
            </a:r>
            <a:endParaRPr>
              <a:solidFill>
                <a:schemeClr val="dk2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(to client)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1901900" y="3151013"/>
            <a:ext cx="1113300" cy="569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Connection</a:t>
            </a:r>
            <a:endParaRPr>
              <a:solidFill>
                <a:schemeClr val="dk2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(to client)</a:t>
            </a:r>
            <a:endParaRPr sz="1100">
              <a:solidFill>
                <a:schemeClr val="dk2"/>
              </a:solidFill>
            </a:endParaRPr>
          </a:p>
        </p:txBody>
      </p:sp>
      <p:cxnSp>
        <p:nvCxnSpPr>
          <p:cNvPr id="108" name="Google Shape;108;p17"/>
          <p:cNvCxnSpPr>
            <a:stCxn id="104" idx="1"/>
            <a:endCxn id="102" idx="3"/>
          </p:cNvCxnSpPr>
          <p:nvPr/>
        </p:nvCxnSpPr>
        <p:spPr>
          <a:xfrm flipH="1">
            <a:off x="1775600" y="2126013"/>
            <a:ext cx="126300" cy="60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" name="Google Shape;109;p17"/>
          <p:cNvCxnSpPr>
            <a:stCxn id="106" idx="1"/>
            <a:endCxn id="102" idx="3"/>
          </p:cNvCxnSpPr>
          <p:nvPr/>
        </p:nvCxnSpPr>
        <p:spPr>
          <a:xfrm rot="10800000">
            <a:off x="1775600" y="2727163"/>
            <a:ext cx="126300" cy="5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" name="Google Shape;110;p17"/>
          <p:cNvCxnSpPr>
            <a:stCxn id="107" idx="1"/>
            <a:endCxn id="102" idx="3"/>
          </p:cNvCxnSpPr>
          <p:nvPr/>
        </p:nvCxnSpPr>
        <p:spPr>
          <a:xfrm rot="10800000">
            <a:off x="1775600" y="2727113"/>
            <a:ext cx="126300" cy="70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" name="Google Shape;111;p17"/>
          <p:cNvSpPr/>
          <p:nvPr/>
        </p:nvSpPr>
        <p:spPr>
          <a:xfrm>
            <a:off x="5655775" y="1747575"/>
            <a:ext cx="2778300" cy="135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</a:t>
            </a:r>
            <a:endParaRPr/>
          </a:p>
        </p:txBody>
      </p:sp>
      <p:sp>
        <p:nvSpPr>
          <p:cNvPr id="112" name="Google Shape;112;p17"/>
          <p:cNvSpPr txBox="1"/>
          <p:nvPr/>
        </p:nvSpPr>
        <p:spPr>
          <a:xfrm>
            <a:off x="6978300" y="2421275"/>
            <a:ext cx="1399200" cy="4617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Input queue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13" name="Google Shape;113;p17"/>
          <p:cNvCxnSpPr/>
          <p:nvPr/>
        </p:nvCxnSpPr>
        <p:spPr>
          <a:xfrm flipH="1" rot="10800000">
            <a:off x="5658625" y="2101000"/>
            <a:ext cx="27807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" name="Google Shape;114;p17"/>
          <p:cNvSpPr txBox="1"/>
          <p:nvPr/>
        </p:nvSpPr>
        <p:spPr>
          <a:xfrm>
            <a:off x="5742025" y="2367413"/>
            <a:ext cx="1113300" cy="569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Connection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(to server)</a:t>
            </a:r>
            <a:endParaRPr sz="1100">
              <a:solidFill>
                <a:schemeClr val="dk2"/>
              </a:solidFill>
            </a:endParaRPr>
          </a:p>
        </p:txBody>
      </p:sp>
      <p:cxnSp>
        <p:nvCxnSpPr>
          <p:cNvPr id="115" name="Google Shape;115;p17"/>
          <p:cNvCxnSpPr>
            <a:stCxn id="114" idx="3"/>
            <a:endCxn id="112" idx="1"/>
          </p:cNvCxnSpPr>
          <p:nvPr/>
        </p:nvCxnSpPr>
        <p:spPr>
          <a:xfrm>
            <a:off x="6855325" y="2652113"/>
            <a:ext cx="123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6" name="Google Shape;116;p17"/>
          <p:cNvSpPr/>
          <p:nvPr/>
        </p:nvSpPr>
        <p:spPr>
          <a:xfrm>
            <a:off x="3560013" y="2320675"/>
            <a:ext cx="1465800" cy="4065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Message</a:t>
            </a:r>
            <a:endParaRPr/>
          </a:p>
        </p:txBody>
      </p:sp>
      <p:cxnSp>
        <p:nvCxnSpPr>
          <p:cNvPr id="117" name="Google Shape;117;p17"/>
          <p:cNvCxnSpPr/>
          <p:nvPr/>
        </p:nvCxnSpPr>
        <p:spPr>
          <a:xfrm flipH="1" rot="10800000">
            <a:off x="3186375" y="2840375"/>
            <a:ext cx="2312100" cy="2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" name="Google Shape;118;p17"/>
          <p:cNvCxnSpPr/>
          <p:nvPr/>
        </p:nvCxnSpPr>
        <p:spPr>
          <a:xfrm flipH="1">
            <a:off x="3202425" y="2995475"/>
            <a:ext cx="2285400" cy="1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311700" y="182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Диаграмма классов</a:t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>
            <a:off x="429950" y="918800"/>
            <a:ext cx="2124000" cy="280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8"/>
          <p:cNvSpPr txBox="1"/>
          <p:nvPr/>
        </p:nvSpPr>
        <p:spPr>
          <a:xfrm>
            <a:off x="429950" y="918800"/>
            <a:ext cx="2124000" cy="4002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Server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126" name="Google Shape;126;p18"/>
          <p:cNvSpPr txBox="1"/>
          <p:nvPr/>
        </p:nvSpPr>
        <p:spPr>
          <a:xfrm>
            <a:off x="436428" y="1319000"/>
            <a:ext cx="19116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+ </a:t>
            </a:r>
            <a:r>
              <a:rPr lang="en" sz="800"/>
              <a:t>start()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+ stop()</a:t>
            </a:r>
            <a:endParaRPr sz="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+ send_message_to_client()</a:t>
            </a:r>
            <a:endParaRPr sz="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+ process_input_messages()</a:t>
            </a:r>
            <a:endParaRPr sz="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+ set_storage()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- wait_for_client_connection()</a:t>
            </a:r>
            <a:endParaRPr sz="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- send_message_to_all_clients()</a:t>
            </a:r>
            <a:endParaRPr sz="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- on_client_connecting()</a:t>
            </a:r>
            <a:endParaRPr sz="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- process_message()</a:t>
            </a:r>
            <a:endParaRPr sz="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- process_pending_messages()</a:t>
            </a:r>
            <a:endParaRPr sz="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- send_message_to_client_by_name(</a:t>
            </a:r>
            <a:r>
              <a:rPr lang="en" sz="800"/>
              <a:t>)</a:t>
            </a:r>
            <a:endParaRPr sz="800"/>
          </a:p>
        </p:txBody>
      </p:sp>
      <p:sp>
        <p:nvSpPr>
          <p:cNvPr id="127" name="Google Shape;127;p18"/>
          <p:cNvSpPr txBox="1"/>
          <p:nvPr/>
        </p:nvSpPr>
        <p:spPr>
          <a:xfrm>
            <a:off x="429950" y="2799200"/>
            <a:ext cx="2124000" cy="923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- i</a:t>
            </a:r>
            <a:r>
              <a:rPr lang="en" sz="800">
                <a:solidFill>
                  <a:schemeClr val="dk1"/>
                </a:solidFill>
              </a:rPr>
              <a:t>nput_messages_queue_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- </a:t>
            </a:r>
            <a:r>
              <a:rPr lang="en" sz="800">
                <a:solidFill>
                  <a:schemeClr val="dk1"/>
                </a:solidFill>
              </a:rPr>
              <a:t>connections_map_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- asio_context_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- asio_context_thread_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- asio_acceptor_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- storage_</a:t>
            </a:r>
            <a:endParaRPr sz="1600"/>
          </a:p>
        </p:txBody>
      </p:sp>
      <p:sp>
        <p:nvSpPr>
          <p:cNvPr id="128" name="Google Shape;128;p18"/>
          <p:cNvSpPr/>
          <p:nvPr/>
        </p:nvSpPr>
        <p:spPr>
          <a:xfrm>
            <a:off x="3659900" y="891575"/>
            <a:ext cx="1683300" cy="255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8"/>
          <p:cNvSpPr txBox="1"/>
          <p:nvPr/>
        </p:nvSpPr>
        <p:spPr>
          <a:xfrm>
            <a:off x="3659900" y="891575"/>
            <a:ext cx="1683300" cy="4002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Connection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3665034" y="1291775"/>
            <a:ext cx="15144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+ </a:t>
            </a:r>
            <a:r>
              <a:rPr lang="en" sz="800"/>
              <a:t>connect_to_client</a:t>
            </a:r>
            <a:r>
              <a:rPr lang="en" sz="800"/>
              <a:t>()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+ </a:t>
            </a:r>
            <a:r>
              <a:rPr lang="en" sz="800"/>
              <a:t>connect_to_server</a:t>
            </a:r>
            <a:r>
              <a:rPr lang="en" sz="800"/>
              <a:t>()</a:t>
            </a:r>
            <a:endParaRPr sz="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+ </a:t>
            </a:r>
            <a:r>
              <a:rPr lang="en" sz="800"/>
              <a:t>disconnect</a:t>
            </a:r>
            <a:r>
              <a:rPr lang="en" sz="800"/>
              <a:t>()</a:t>
            </a:r>
            <a:endParaRPr sz="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+ send_message_to_client()</a:t>
            </a:r>
            <a:endParaRPr sz="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+ </a:t>
            </a:r>
            <a:r>
              <a:rPr lang="en" sz="800"/>
              <a:t>is_connected</a:t>
            </a:r>
            <a:r>
              <a:rPr lang="en" sz="800"/>
              <a:t>()</a:t>
            </a:r>
            <a:endParaRPr sz="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+ </a:t>
            </a:r>
            <a:r>
              <a:rPr lang="en" sz="800"/>
              <a:t>send</a:t>
            </a:r>
            <a:r>
              <a:rPr lang="en" sz="800"/>
              <a:t>()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- </a:t>
            </a:r>
            <a:r>
              <a:rPr lang="en" sz="800"/>
              <a:t>start_listening</a:t>
            </a:r>
            <a:r>
              <a:rPr lang="en" sz="800"/>
              <a:t>()</a:t>
            </a:r>
            <a:endParaRPr sz="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- </a:t>
            </a:r>
            <a:r>
              <a:rPr lang="en" sz="800"/>
              <a:t>write_message_header</a:t>
            </a:r>
            <a:r>
              <a:rPr lang="en" sz="800"/>
              <a:t>()</a:t>
            </a:r>
            <a:endParaRPr sz="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- </a:t>
            </a:r>
            <a:r>
              <a:rPr lang="en" sz="800"/>
              <a:t>write_message_body</a:t>
            </a:r>
            <a:r>
              <a:rPr lang="en" sz="800"/>
              <a:t>()</a:t>
            </a:r>
            <a:endParaRPr sz="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- </a:t>
            </a:r>
            <a:r>
              <a:rPr lang="en" sz="800">
                <a:solidFill>
                  <a:schemeClr val="dk1"/>
                </a:solidFill>
              </a:rPr>
              <a:t>read</a:t>
            </a:r>
            <a:r>
              <a:rPr lang="en" sz="800">
                <a:solidFill>
                  <a:schemeClr val="dk1"/>
                </a:solidFill>
              </a:rPr>
              <a:t>_message_header</a:t>
            </a:r>
            <a:r>
              <a:rPr lang="en" sz="800"/>
              <a:t>()</a:t>
            </a:r>
            <a:endParaRPr sz="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- </a:t>
            </a:r>
            <a:r>
              <a:rPr lang="en" sz="800">
                <a:solidFill>
                  <a:schemeClr val="dk1"/>
                </a:solidFill>
              </a:rPr>
              <a:t>read</a:t>
            </a:r>
            <a:r>
              <a:rPr lang="en" sz="800">
                <a:solidFill>
                  <a:schemeClr val="dk1"/>
                </a:solidFill>
              </a:rPr>
              <a:t>_message_body</a:t>
            </a:r>
            <a:r>
              <a:rPr lang="en" sz="800"/>
              <a:t>()</a:t>
            </a:r>
            <a:endParaRPr sz="800"/>
          </a:p>
        </p:txBody>
      </p:sp>
      <p:sp>
        <p:nvSpPr>
          <p:cNvPr id="131" name="Google Shape;131;p18"/>
          <p:cNvSpPr txBox="1"/>
          <p:nvPr/>
        </p:nvSpPr>
        <p:spPr>
          <a:xfrm>
            <a:off x="3659900" y="2771975"/>
            <a:ext cx="1683300" cy="677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- asio_socket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- </a:t>
            </a:r>
            <a:r>
              <a:rPr lang="en" sz="800">
                <a:solidFill>
                  <a:schemeClr val="dk1"/>
                </a:solidFill>
              </a:rPr>
              <a:t>asio_context_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- </a:t>
            </a:r>
            <a:r>
              <a:rPr lang="en" sz="800">
                <a:solidFill>
                  <a:schemeClr val="dk1"/>
                </a:solidFill>
              </a:rPr>
              <a:t>input_messages_queue_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- output_messages_queue_</a:t>
            </a:r>
            <a:endParaRPr sz="1600"/>
          </a:p>
        </p:txBody>
      </p:sp>
      <p:cxnSp>
        <p:nvCxnSpPr>
          <p:cNvPr id="132" name="Google Shape;132;p18"/>
          <p:cNvCxnSpPr>
            <a:stCxn id="133" idx="3"/>
            <a:endCxn id="129" idx="1"/>
          </p:cNvCxnSpPr>
          <p:nvPr/>
        </p:nvCxnSpPr>
        <p:spPr>
          <a:xfrm flipH="1" rot="10800000">
            <a:off x="2712725" y="1091538"/>
            <a:ext cx="947100" cy="1967700"/>
          </a:xfrm>
          <a:prstGeom prst="bentConnector3">
            <a:avLst>
              <a:gd fmla="val 5000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" name="Google Shape;134;p18"/>
          <p:cNvSpPr txBox="1"/>
          <p:nvPr/>
        </p:nvSpPr>
        <p:spPr>
          <a:xfrm>
            <a:off x="3229727" y="777025"/>
            <a:ext cx="542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1..*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6290375" y="897500"/>
            <a:ext cx="1739700" cy="220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8"/>
          <p:cNvSpPr txBox="1"/>
          <p:nvPr/>
        </p:nvSpPr>
        <p:spPr>
          <a:xfrm>
            <a:off x="6290375" y="897500"/>
            <a:ext cx="1739700" cy="4002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Client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6295681" y="1297700"/>
            <a:ext cx="15654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+ connect_to_server()</a:t>
            </a:r>
            <a:endParaRPr sz="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+ disconnect_from_server()</a:t>
            </a:r>
            <a:endParaRPr sz="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+ is_connected()</a:t>
            </a:r>
            <a:endParaRPr sz="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+ ping_server()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+</a:t>
            </a:r>
            <a:r>
              <a:rPr lang="en" sz="800"/>
              <a:t> </a:t>
            </a:r>
            <a:r>
              <a:rPr lang="en" sz="800"/>
              <a:t>send_to_server</a:t>
            </a:r>
            <a:r>
              <a:rPr lang="en" sz="800"/>
              <a:t>()</a:t>
            </a:r>
            <a:endParaRPr sz="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+ </a:t>
            </a:r>
            <a:r>
              <a:rPr lang="en" sz="800"/>
              <a:t>send_to_another_client</a:t>
            </a:r>
            <a:r>
              <a:rPr lang="en" sz="800"/>
              <a:t>()</a:t>
            </a:r>
            <a:endParaRPr sz="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+ </a:t>
            </a:r>
            <a:r>
              <a:rPr lang="en" sz="800"/>
              <a:t>get_input_messages</a:t>
            </a:r>
            <a:r>
              <a:rPr lang="en" sz="800"/>
              <a:t>()</a:t>
            </a:r>
            <a:endParaRPr sz="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+ </a:t>
            </a:r>
            <a:r>
              <a:rPr lang="en" sz="800">
                <a:solidFill>
                  <a:schemeClr val="dk1"/>
                </a:solidFill>
              </a:rPr>
              <a:t>process_input_messages</a:t>
            </a:r>
            <a:r>
              <a:rPr lang="en" sz="800"/>
              <a:t>()</a:t>
            </a:r>
            <a:endParaRPr sz="800"/>
          </a:p>
        </p:txBody>
      </p:sp>
      <p:sp>
        <p:nvSpPr>
          <p:cNvPr id="138" name="Google Shape;138;p18"/>
          <p:cNvSpPr txBox="1"/>
          <p:nvPr/>
        </p:nvSpPr>
        <p:spPr>
          <a:xfrm>
            <a:off x="6290375" y="2424500"/>
            <a:ext cx="1739700" cy="677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- </a:t>
            </a:r>
            <a:r>
              <a:rPr lang="en" sz="800">
                <a:solidFill>
                  <a:schemeClr val="dk1"/>
                </a:solidFill>
              </a:rPr>
              <a:t>asio_context_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- asio_context_thread_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- input_messages_queue_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- connection_</a:t>
            </a:r>
            <a:endParaRPr sz="1600"/>
          </a:p>
        </p:txBody>
      </p:sp>
      <p:cxnSp>
        <p:nvCxnSpPr>
          <p:cNvPr id="139" name="Google Shape;139;p18"/>
          <p:cNvCxnSpPr>
            <a:stCxn id="140" idx="1"/>
            <a:endCxn id="129" idx="3"/>
          </p:cNvCxnSpPr>
          <p:nvPr/>
        </p:nvCxnSpPr>
        <p:spPr>
          <a:xfrm rot="10800000">
            <a:off x="5343237" y="1091701"/>
            <a:ext cx="786600" cy="1868400"/>
          </a:xfrm>
          <a:prstGeom prst="bentConnector3">
            <a:avLst>
              <a:gd fmla="val 5000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" name="Google Shape;141;p18"/>
          <p:cNvSpPr txBox="1"/>
          <p:nvPr/>
        </p:nvSpPr>
        <p:spPr>
          <a:xfrm>
            <a:off x="5405276" y="777025"/>
            <a:ext cx="35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1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2557375" y="3016875"/>
            <a:ext cx="155350" cy="84725"/>
          </a:xfrm>
          <a:prstGeom prst="flowChartDecision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6129837" y="2917738"/>
            <a:ext cx="155350" cy="84725"/>
          </a:xfrm>
          <a:prstGeom prst="flowChartDecision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814250" y="4013925"/>
            <a:ext cx="1739700" cy="92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814250" y="4013914"/>
            <a:ext cx="1739700" cy="4002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dk2"/>
                </a:solidFill>
              </a:rPr>
              <a:t>IStorage</a:t>
            </a:r>
            <a:endParaRPr b="1" i="1">
              <a:solidFill>
                <a:schemeClr val="dk2"/>
              </a:solidFill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814250" y="4355225"/>
            <a:ext cx="1739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+ save_message()</a:t>
            </a:r>
            <a:endParaRPr sz="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+ read_message()</a:t>
            </a:r>
            <a:endParaRPr sz="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+ list_messages()</a:t>
            </a:r>
            <a:endParaRPr sz="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+ move_message_to_delivered()</a:t>
            </a:r>
            <a:endParaRPr sz="800"/>
          </a:p>
        </p:txBody>
      </p:sp>
      <p:sp>
        <p:nvSpPr>
          <p:cNvPr id="145" name="Google Shape;145;p18"/>
          <p:cNvSpPr/>
          <p:nvPr/>
        </p:nvSpPr>
        <p:spPr>
          <a:xfrm>
            <a:off x="2557375" y="3511825"/>
            <a:ext cx="155350" cy="84725"/>
          </a:xfrm>
          <a:prstGeom prst="flowChartDecision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6" name="Google Shape;146;p18"/>
          <p:cNvCxnSpPr>
            <a:stCxn id="145" idx="3"/>
            <a:endCxn id="143" idx="3"/>
          </p:cNvCxnSpPr>
          <p:nvPr/>
        </p:nvCxnSpPr>
        <p:spPr>
          <a:xfrm flipH="1">
            <a:off x="2554025" y="3554188"/>
            <a:ext cx="158700" cy="659700"/>
          </a:xfrm>
          <a:prstGeom prst="bentConnector3">
            <a:avLst>
              <a:gd fmla="val -15004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" name="Google Shape;147;p18"/>
          <p:cNvSpPr txBox="1"/>
          <p:nvPr/>
        </p:nvSpPr>
        <p:spPr>
          <a:xfrm>
            <a:off x="2557373" y="3859900"/>
            <a:ext cx="293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1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3531600" y="4136775"/>
            <a:ext cx="1739700" cy="74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3531600" y="4136764"/>
            <a:ext cx="1739700" cy="4002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Storage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3531600" y="4478075"/>
            <a:ext cx="1739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-</a:t>
            </a:r>
            <a:r>
              <a:rPr lang="en" sz="800"/>
              <a:t> </a:t>
            </a:r>
            <a:r>
              <a:rPr lang="en" sz="800"/>
              <a:t>pending_messages_path_</a:t>
            </a:r>
            <a:endParaRPr sz="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- delivered</a:t>
            </a:r>
            <a:r>
              <a:rPr lang="en" sz="800"/>
              <a:t>_messages_path_</a:t>
            </a:r>
            <a:endParaRPr sz="800"/>
          </a:p>
        </p:txBody>
      </p:sp>
      <p:cxnSp>
        <p:nvCxnSpPr>
          <p:cNvPr id="151" name="Google Shape;151;p18"/>
          <p:cNvCxnSpPr>
            <a:stCxn id="150" idx="1"/>
            <a:endCxn id="144" idx="3"/>
          </p:cNvCxnSpPr>
          <p:nvPr/>
        </p:nvCxnSpPr>
        <p:spPr>
          <a:xfrm flipH="1">
            <a:off x="2553900" y="4693625"/>
            <a:ext cx="9777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52" name="Google Shape;152;p18"/>
          <p:cNvSpPr/>
          <p:nvPr/>
        </p:nvSpPr>
        <p:spPr>
          <a:xfrm rot="1949919">
            <a:off x="2569070" y="4630645"/>
            <a:ext cx="96039" cy="84811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Пример использования</a:t>
            </a:r>
            <a:endParaRPr/>
          </a:p>
        </p:txBody>
      </p:sp>
      <p:sp>
        <p:nvSpPr>
          <p:cNvPr id="158" name="Google Shape;158;p19"/>
          <p:cNvSpPr txBox="1"/>
          <p:nvPr>
            <p:ph idx="1" type="body"/>
          </p:nvPr>
        </p:nvSpPr>
        <p:spPr>
          <a:xfrm>
            <a:off x="943175" y="1221075"/>
            <a:ext cx="4816500" cy="5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358"/>
              <a:buNone/>
            </a:pPr>
            <a:r>
              <a:rPr b="1" lang="en" sz="1685"/>
              <a:t>Server application</a:t>
            </a:r>
            <a:endParaRPr b="1" sz="1685"/>
          </a:p>
        </p:txBody>
      </p:sp>
      <p:sp>
        <p:nvSpPr>
          <p:cNvPr id="159" name="Google Shape;159;p19"/>
          <p:cNvSpPr txBox="1"/>
          <p:nvPr/>
        </p:nvSpPr>
        <p:spPr>
          <a:xfrm>
            <a:off x="536900" y="1801550"/>
            <a:ext cx="7914300" cy="21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simple_messaging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server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server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60000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simple_messaging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messages_storage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storage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server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set_storage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make_shared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simple_messaging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messages_storage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&gt;(</a:t>
            </a:r>
            <a:r>
              <a:rPr lang="en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storage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server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start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server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process_input_messages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Пример использования</a:t>
            </a:r>
            <a:endParaRPr/>
          </a:p>
        </p:txBody>
      </p:sp>
      <p:sp>
        <p:nvSpPr>
          <p:cNvPr id="165" name="Google Shape;165;p20"/>
          <p:cNvSpPr txBox="1"/>
          <p:nvPr>
            <p:ph idx="1" type="body"/>
          </p:nvPr>
        </p:nvSpPr>
        <p:spPr>
          <a:xfrm>
            <a:off x="943175" y="1221075"/>
            <a:ext cx="4816500" cy="5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358"/>
              <a:buNone/>
            </a:pPr>
            <a:r>
              <a:rPr b="1" lang="en" sz="1685"/>
              <a:t>Client</a:t>
            </a:r>
            <a:r>
              <a:rPr b="1" lang="en" sz="1685"/>
              <a:t> application</a:t>
            </a:r>
            <a:endParaRPr b="1" sz="1685"/>
          </a:p>
        </p:txBody>
      </p:sp>
      <p:sp>
        <p:nvSpPr>
          <p:cNvPr id="166" name="Google Shape;166;p20"/>
          <p:cNvSpPr txBox="1"/>
          <p:nvPr/>
        </p:nvSpPr>
        <p:spPr>
          <a:xfrm>
            <a:off x="536900" y="1801550"/>
            <a:ext cx="7914300" cy="24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my_client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msg_client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msg_client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set_name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my_name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msg_client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connect_to_server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"127.0.0.1"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60000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size_t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message_no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msg_client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is_connected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()) {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this_thread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sleep_for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chrono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seconds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message_to_send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"Hi from "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my_name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   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msg_client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send_to_another_client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dest_name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 </a:t>
            </a:r>
            <a:r>
              <a:rPr lang="en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message_to_send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msg_client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process_incoming_messages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67F9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1" title="1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450" y="434475"/>
            <a:ext cx="7003827" cy="4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Дальнейшие улучшения</a:t>
            </a:r>
            <a:endParaRPr/>
          </a:p>
        </p:txBody>
      </p:sp>
      <p:sp>
        <p:nvSpPr>
          <p:cNvPr id="177" name="Google Shape;17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Сериализация объектов в сообщения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Подтверждение доставки сообщений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Широковещательные сообщения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Рефакторинг (pimpl в server и client)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И другое. Многое.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 txBox="1"/>
          <p:nvPr>
            <p:ph type="title"/>
          </p:nvPr>
        </p:nvSpPr>
        <p:spPr>
          <a:xfrm>
            <a:off x="311700" y="2323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Спасибо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